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Dynamic Programming and Optimal Substructure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• Course: Design and Analysis of Algorithms</a:t>
            </a:r>
          </a:p>
          <a:p>
            <a:pPr>
              <a:spcAft>
                <a:spcPts val="1200"/>
              </a:spcAft>
              <a:defRPr sz="1500"/>
            </a:pPr>
            <a:r>
              <a:t>• Unit 4: Advanced Dynamic Programming &amp; State Space Optimization</a:t>
            </a:r>
          </a:p>
          <a:p>
            <a:pPr>
              <a:spcAft>
                <a:spcPts val="1200"/>
              </a:spcAft>
              <a:defRPr sz="1500"/>
            </a:pPr>
            <a:r>
              <a:t>• Instructor Lecture Series • Academic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Optimal Substructure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• Formal Condition: An optimal solution to a problem contains optimal solutions to its subproblems.</a:t>
            </a:r>
          </a:p>
          <a:p>
            <a:pPr>
              <a:spcAft>
                <a:spcPts val="1200"/>
              </a:spcAft>
              <a:defRPr sz="1500"/>
            </a:pPr>
            <a:r>
              <a:t>• Shortest Path Property: If path P from u to v is shortest, any sub-path from x to y on P is also shortest.</a:t>
            </a:r>
          </a:p>
          <a:p>
            <a:pPr>
              <a:spcAft>
                <a:spcPts val="1200"/>
              </a:spcAft>
              <a:defRPr sz="1500"/>
            </a:pPr>
            <a:r>
              <a:t>• Indispensable Foundation: Required for both dynamic programming and greedy algorithms.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Overlapping Subproblems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• Distinction from Divide-and-Conquer: Subproblems are shared across branches rather than disjoint.</a:t>
            </a:r>
          </a:p>
          <a:p>
            <a:pPr>
              <a:spcAft>
                <a:spcPts val="1200"/>
              </a:spcAft>
              <a:defRPr sz="1500"/>
            </a:pPr>
            <a:r>
              <a:t>• Fibonacci Recurrence: Naive recursion computes F(n-2) exponentially many times (O(2^n)).</a:t>
            </a:r>
          </a:p>
          <a:p>
            <a:pPr>
              <a:spcAft>
                <a:spcPts val="1200"/>
              </a:spcAft>
              <a:defRPr sz="1500"/>
            </a:pPr>
            <a:r>
              <a:t>• State Space Caching: Evaluates each unique state exactly once, reducing complexity to polynomial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Top-Down Memoization vs Bottom-Up Tabulation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• Memoization: Top-down recursive evaluation maintaining a cache dictionary or lookup array.</a:t>
            </a:r>
          </a:p>
          <a:p>
            <a:pPr>
              <a:spcAft>
                <a:spcPts val="1200"/>
              </a:spcAft>
              <a:defRPr sz="1500"/>
            </a:pPr>
            <a:r>
              <a:t>• Tabulation: Bottom-up iterative table filling from base cases upward to avoid call-stack overhead.</a:t>
            </a:r>
          </a:p>
          <a:p>
            <a:pPr>
              <a:spcAft>
                <a:spcPts val="1200"/>
              </a:spcAft>
              <a:defRPr sz="1500"/>
            </a:pPr>
            <a:r>
              <a:t>• Trade-off: Memoization computes only reachable states; tabulation provides better cache locality.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0/1 Knapsack State Space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• Problem Formulation: Given n items with weights w_i and values v_i, capacity W.</a:t>
            </a:r>
          </a:p>
          <a:p>
            <a:pPr>
              <a:spcAft>
                <a:spcPts val="1200"/>
              </a:spcAft>
              <a:defRPr sz="1500"/>
            </a:pPr>
            <a:r>
              <a:t>• State Definition: dp[i][w] = maximum value using items 1..i within weight capacity w.</a:t>
            </a:r>
          </a:p>
          <a:p>
            <a:pPr>
              <a:spcAft>
                <a:spcPts val="1200"/>
              </a:spcAft>
              <a:defRPr sz="1500"/>
            </a:pPr>
            <a:r>
              <a:t>• Recurrence: dp[i][w] = max(dp[i-1][w], dp[i-1][w - w_i] + v_i) for w &gt;= w_i.</a:t>
            </a:r>
          </a:p>
          <a:p>
            <a:pPr>
              <a:spcAft>
                <a:spcPts val="1200"/>
              </a:spcAft>
              <a:defRPr sz="1500"/>
            </a:pPr>
            <a:r>
              <a:t>• Complexity: O(n * W) time and O(n * W) space, pseudo-polynomial time complexity.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Dijkstra Algorithm and Shortest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• Single-source shortest paths on weighted graphs with non-negative edge weights.</a:t>
            </a:r>
          </a:p>
          <a:p>
            <a:pPr>
              <a:spcAft>
                <a:spcPts val="1200"/>
              </a:spcAft>
              <a:defRPr sz="1500"/>
            </a:pPr>
            <a:r>
              <a:t>• Greedy Invariant: Maintains set of visited vertices whose shortest distance is permanently finalized.</a:t>
            </a:r>
          </a:p>
          <a:p>
            <a:pPr>
              <a:spcAft>
                <a:spcPts val="1200"/>
              </a:spcAft>
              <a:defRPr sz="1500"/>
            </a:pPr>
            <a:r>
              <a:t>• Priority Queue Implementation: Min-heap yields O((V + E) log V) time complexity.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